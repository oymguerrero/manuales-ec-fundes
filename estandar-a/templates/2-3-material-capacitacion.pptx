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846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686800" y="0"/>
            <a:ext cx="3504895" cy="6858000"/>
          </a:xfrm>
          <a:prstGeom prst="rect">
            <a:avLst/>
          </a:prstGeom>
          <a:solidFill>
            <a:srgbClr val="F7C0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686800" y="0"/>
            <a:ext cx="109728" cy="6858000"/>
          </a:xfrm>
          <a:prstGeom prst="rect">
            <a:avLst/>
          </a:prstGeom>
          <a:solidFill>
            <a:srgbClr val="F7C0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7772400" cy="5486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500" b="1" i="0">
                <a:solidFill>
                  <a:srgbClr val="F7C031"/>
                </a:solidFill>
                <a:latin typeface="Calibri"/>
              </a:rPr>
              <a:t>PRODUCTO 2.3  ·  ELEMENTO 2 · Ejecutar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468880"/>
            <a:ext cx="7772400" cy="18288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Calibri"/>
              </a:rPr>
              <a:t>Material de capacitación para la adopción de soluciones de IA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572000"/>
            <a:ext cx="7772400" cy="5486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2000" b="0" i="1">
                <a:solidFill>
                  <a:srgbClr val="EAF4FF"/>
                </a:solidFill>
                <a:latin typeface="Calibri"/>
              </a:rPr>
              <a:t>Material de capacitación al personal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5394960"/>
            <a:ext cx="777240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00" b="1" i="0">
                <a:solidFill>
                  <a:srgbClr val="F7C031"/>
                </a:solidFill>
                <a:latin typeface="Calibri"/>
              </a:rPr>
              <a:t>Mi CompañIA  ·  FUNDES México con el apoyo de Google.org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235440" y="2743200"/>
            <a:ext cx="2468880" cy="1371600"/>
          </a:xfrm>
          <a:prstGeom prst="roundRect">
            <a:avLst/>
          </a:prstGeom>
          <a:solidFill>
            <a:srgbClr val="2846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800" b="1">
                <a:solidFill>
                  <a:srgbClr val="F7C031"/>
                </a:solidFill>
              </a:rPr>
              <a:t>Mi
CompañIA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2846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57200"/>
            <a:ext cx="12191695" cy="54864"/>
          </a:xfrm>
          <a:prstGeom prst="rect">
            <a:avLst/>
          </a:prstGeom>
          <a:solidFill>
            <a:srgbClr val="F7C0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45720"/>
            <a:ext cx="3200400" cy="36576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400" b="1" i="0">
                <a:solidFill>
                  <a:srgbClr val="F7C031"/>
                </a:solidFill>
                <a:latin typeface="Calibri"/>
              </a:rPr>
              <a:t>Mi CompañIA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566160" y="45720"/>
            <a:ext cx="6858000" cy="36576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· Material de capacitación para la adopción de soluciones de IA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45720"/>
            <a:ext cx="1645920" cy="36576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r"/>
            <a:r>
              <a:rPr sz="1200" b="1" i="0">
                <a:solidFill>
                  <a:srgbClr val="F7C031"/>
                </a:solidFill>
                <a:latin typeface="Calibri"/>
              </a:rPr>
              <a:t>Producto 2.3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914400"/>
            <a:ext cx="11247120" cy="7315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3200" b="1" i="0">
                <a:solidFill>
                  <a:srgbClr val="28467E"/>
                </a:solidFill>
                <a:latin typeface="Calibri"/>
              </a:rPr>
              <a:t>Datos de esta capacitación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645920"/>
            <a:ext cx="11247120" cy="5486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300" b="0" i="1">
                <a:solidFill>
                  <a:srgbClr val="4B5563"/>
                </a:solidFill>
                <a:latin typeface="Calibri"/>
              </a:rPr>
              <a:t>Completa antes de impartirla. Define alcance, audiencia y tiempo para que el evaluador vea contexto.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468880"/>
            <a:ext cx="11247120" cy="548640"/>
          </a:xfrm>
          <a:prstGeom prst="rect">
            <a:avLst/>
          </a:prstGeom>
          <a:solidFill>
            <a:srgbClr val="EA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2468880"/>
            <a:ext cx="3657600" cy="5486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300" b="1" i="0">
                <a:solidFill>
                  <a:srgbClr val="28467E"/>
                </a:solidFill>
                <a:latin typeface="Calibri"/>
              </a:rPr>
              <a:t>Nombre de la MiPyME: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89120" y="2468880"/>
            <a:ext cx="7315200" cy="5486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300" b="0" i="0">
                <a:solidFill>
                  <a:srgbClr val="4B5563"/>
                </a:solidFill>
                <a:latin typeface="Calibri"/>
              </a:rPr>
              <a:t>________________________________________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3154680"/>
            <a:ext cx="11247120" cy="548640"/>
          </a:xfrm>
          <a:prstGeom prst="rect">
            <a:avLst/>
          </a:prstGeom>
          <a:solidFill>
            <a:srgbClr val="EA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154680"/>
            <a:ext cx="3657600" cy="5486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300" b="1" i="0">
                <a:solidFill>
                  <a:srgbClr val="28467E"/>
                </a:solidFill>
                <a:latin typeface="Calibri"/>
              </a:rPr>
              <a:t>Personal capacitado (nombres + cargo):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89120" y="3154680"/>
            <a:ext cx="7315200" cy="5486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300" b="0" i="0">
                <a:solidFill>
                  <a:srgbClr val="4B5563"/>
                </a:solidFill>
                <a:latin typeface="Calibri"/>
              </a:rPr>
              <a:t>________________________________________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3840480"/>
            <a:ext cx="11247120" cy="548640"/>
          </a:xfrm>
          <a:prstGeom prst="rect">
            <a:avLst/>
          </a:prstGeom>
          <a:solidFill>
            <a:srgbClr val="EA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3840480"/>
            <a:ext cx="3657600" cy="5486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300" b="1" i="0">
                <a:solidFill>
                  <a:srgbClr val="28467E"/>
                </a:solidFill>
                <a:latin typeface="Calibri"/>
              </a:rPr>
              <a:t>Fecha de la capacitación: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89120" y="3840480"/>
            <a:ext cx="7315200" cy="5486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300" b="0" i="0">
                <a:solidFill>
                  <a:srgbClr val="4B5563"/>
                </a:solidFill>
                <a:latin typeface="Calibri"/>
              </a:rPr>
              <a:t>________________________________________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4526280"/>
            <a:ext cx="11247120" cy="548640"/>
          </a:xfrm>
          <a:prstGeom prst="rect">
            <a:avLst/>
          </a:prstGeom>
          <a:solidFill>
            <a:srgbClr val="EA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4526280"/>
            <a:ext cx="3657600" cy="5486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300" b="1" i="0">
                <a:solidFill>
                  <a:srgbClr val="28467E"/>
                </a:solidFill>
                <a:latin typeface="Calibri"/>
              </a:rPr>
              <a:t>Duración estimada: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89120" y="4526280"/>
            <a:ext cx="7315200" cy="5486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300" b="0" i="0">
                <a:solidFill>
                  <a:srgbClr val="4B5563"/>
                </a:solidFill>
                <a:latin typeface="Calibri"/>
              </a:rPr>
              <a:t>________________________________________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5212080"/>
            <a:ext cx="11247120" cy="548640"/>
          </a:xfrm>
          <a:prstGeom prst="rect">
            <a:avLst/>
          </a:prstGeom>
          <a:solidFill>
            <a:srgbClr val="EA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5212080"/>
            <a:ext cx="3657600" cy="5486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300" b="1" i="0">
                <a:solidFill>
                  <a:srgbClr val="28467E"/>
                </a:solidFill>
                <a:latin typeface="Calibri"/>
              </a:rPr>
              <a:t>Soluciones cubiertas en esta sesión: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89120" y="5212080"/>
            <a:ext cx="7315200" cy="5486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300" b="0" i="0">
                <a:solidFill>
                  <a:srgbClr val="4B5563"/>
                </a:solidFill>
                <a:latin typeface="Calibri"/>
              </a:rPr>
              <a:t>________________________________________</a:t>
            </a:r>
          </a:p>
        </p:txBody>
      </p:sp>
      <p:sp>
        <p:nvSpPr>
          <p:cNvPr id="24" name="Rectangle 2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7C0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000" b="1" i="0">
                <a:solidFill>
                  <a:srgbClr val="28467E"/>
                </a:solidFill>
                <a:latin typeface="Calibri"/>
              </a:rPr>
              <a:t>Mi CompañIA  ·  FUNDES México  ·  AIxMiPyMEs   ·   2 / 12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2846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57200"/>
            <a:ext cx="12191695" cy="54864"/>
          </a:xfrm>
          <a:prstGeom prst="rect">
            <a:avLst/>
          </a:prstGeom>
          <a:solidFill>
            <a:srgbClr val="F7C0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45720"/>
            <a:ext cx="3200400" cy="36576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400" b="1" i="0">
                <a:solidFill>
                  <a:srgbClr val="F7C031"/>
                </a:solidFill>
                <a:latin typeface="Calibri"/>
              </a:rPr>
              <a:t>Mi CompañIA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566160" y="45720"/>
            <a:ext cx="6858000" cy="36576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· Material de capacitación para la adopción de soluciones de IA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45720"/>
            <a:ext cx="1645920" cy="36576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r"/>
            <a:r>
              <a:rPr sz="1200" b="1" i="0">
                <a:solidFill>
                  <a:srgbClr val="F7C031"/>
                </a:solidFill>
                <a:latin typeface="Calibri"/>
              </a:rPr>
              <a:t>Producto 2.3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914400"/>
            <a:ext cx="11247120" cy="7315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2800" b="1" i="0">
                <a:solidFill>
                  <a:srgbClr val="28467E"/>
                </a:solidFill>
                <a:latin typeface="Calibri"/>
              </a:rPr>
              <a:t>Criterio F21 · qué evalúa el verificador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645920"/>
            <a:ext cx="1124712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00" b="0" i="1">
                <a:solidFill>
                  <a:srgbClr val="4B5563"/>
                </a:solidFill>
                <a:latin typeface="Calibri"/>
              </a:rPr>
              <a:t>Texto literal del F21 oficial. Tu material debe cubrir explícitamente cada punto.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194560"/>
            <a:ext cx="11247120" cy="4114800"/>
          </a:xfrm>
          <a:prstGeom prst="rect">
            <a:avLst/>
          </a:prstGeom>
          <a:solidFill>
            <a:srgbClr val="EA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tIns="274320" rIns="365760"/>
          <a:lstStyle/>
          <a:p>
            <a:pPr algn="ctr">
              <a:spcAft>
                <a:spcPts val="800"/>
              </a:spcAft>
            </a:pPr>
            <a:r>
              <a:rPr sz="1400" b="0">
                <a:solidFill>
                  <a:srgbClr val="28467E"/>
                </a:solidFill>
              </a:rPr>
              <a:t>•  Contiene las instrucciones paso a paso para operar cada herramienta de IA implementada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28467E"/>
                </a:solidFill>
              </a:rPr>
              <a:t>•  Incluye ejemplos de uso aplicados al contexto específico de la MiPyME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28467E"/>
                </a:solidFill>
              </a:rPr>
              <a:t>•  Especifica los prompts o instrucciones recomendadas para cada herramienta de IA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28467E"/>
                </a:solidFill>
              </a:rPr>
              <a:t>•  Incluye las buenas prácticas de uso y las acciones a realizar ante errores frecuentes en la operación de la solución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28467E"/>
                </a:solidFill>
              </a:rPr>
              <a:t>•  Está adaptado al nivel de alfabetización digital del personal capacitado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28467E"/>
                </a:solidFill>
              </a:rPr>
              <a:t>•  Se presenta en formato digital, accesible y comprensible para el personal de la MiPyME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7C0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000" b="1" i="0">
                <a:solidFill>
                  <a:srgbClr val="28467E"/>
                </a:solidFill>
                <a:latin typeface="Calibri"/>
              </a:rPr>
              <a:t>Mi CompañIA  ·  FUNDES México  ·  AIxMiPyMEs   ·   3 / 12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2846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57200"/>
            <a:ext cx="12191695" cy="54864"/>
          </a:xfrm>
          <a:prstGeom prst="rect">
            <a:avLst/>
          </a:prstGeom>
          <a:solidFill>
            <a:srgbClr val="F7C0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45720"/>
            <a:ext cx="3200400" cy="36576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400" b="1" i="0">
                <a:solidFill>
                  <a:srgbClr val="F7C031"/>
                </a:solidFill>
                <a:latin typeface="Calibri"/>
              </a:rPr>
              <a:t>Mi CompañIA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566160" y="45720"/>
            <a:ext cx="6858000" cy="36576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· Material de capacitación para la adopción de soluciones de IA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45720"/>
            <a:ext cx="1645920" cy="36576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r"/>
            <a:r>
              <a:rPr sz="1200" b="1" i="0">
                <a:solidFill>
                  <a:srgbClr val="F7C031"/>
                </a:solidFill>
                <a:latin typeface="Calibri"/>
              </a:rPr>
              <a:t>Producto 2.3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914400"/>
            <a:ext cx="11247120" cy="7315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2800" b="1" i="0">
                <a:solidFill>
                  <a:srgbClr val="28467E"/>
                </a:solidFill>
                <a:latin typeface="Calibri"/>
              </a:rPr>
              <a:t>Ejemplo orientativo · caso La Espiga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645920"/>
            <a:ext cx="1124712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00" b="0" i="1">
                <a:solidFill>
                  <a:srgbClr val="4B5563"/>
                </a:solidFill>
                <a:latin typeface="Calibri"/>
              </a:rPr>
              <a:t>Solo para mostrar el TIPO de contenido. NO copies esto a tu MiPyME.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194560"/>
            <a:ext cx="11247120" cy="4114800"/>
          </a:xfrm>
          <a:prstGeom prst="rect">
            <a:avLst/>
          </a:prstGeom>
          <a:solidFill>
            <a:srgbClr val="FFFB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tIns="274320"/>
          <a:lstStyle/>
          <a:p>
            <a:pPr algn="ctr"/>
            <a:r>
              <a:rPr sz="1600" i="1">
                <a:solidFill>
                  <a:srgbClr val="28467E"/>
                </a:solidFill>
              </a:rPr>
              <a:t>Material de La Espiga: presentación de 12 láminas + 3 prompts pre-cargados. Pensada para encargadas con uso intermedio de smartphone pero sin experiencia previa con asistentes de IA. Lenguaje sencillo, capturas grandes, lista de 'qué hacer si algo no funciona'.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7C0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000" b="1" i="0">
                <a:solidFill>
                  <a:srgbClr val="28467E"/>
                </a:solidFill>
                <a:latin typeface="Calibri"/>
              </a:rPr>
              <a:t>Mi CompañIA  ·  FUNDES México  ·  AIxMiPyMEs   ·   4 / 12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2846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57200"/>
            <a:ext cx="12191695" cy="54864"/>
          </a:xfrm>
          <a:prstGeom prst="rect">
            <a:avLst/>
          </a:prstGeom>
          <a:solidFill>
            <a:srgbClr val="F7C0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45720"/>
            <a:ext cx="3200400" cy="36576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400" b="1" i="0">
                <a:solidFill>
                  <a:srgbClr val="F7C031"/>
                </a:solidFill>
                <a:latin typeface="Calibri"/>
              </a:rPr>
              <a:t>Mi CompañIA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566160" y="45720"/>
            <a:ext cx="6858000" cy="36576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· Material de capacitación para la adopción de soluciones de IA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45720"/>
            <a:ext cx="1645920" cy="36576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r"/>
            <a:r>
              <a:rPr sz="1200" b="1" i="0">
                <a:solidFill>
                  <a:srgbClr val="F7C031"/>
                </a:solidFill>
                <a:latin typeface="Calibri"/>
              </a:rPr>
              <a:t>Producto 2.3</a:t>
            </a:r>
          </a:p>
        </p:txBody>
      </p:sp>
      <p:sp>
        <p:nvSpPr>
          <p:cNvPr id="7" name="Oval 6"/>
          <p:cNvSpPr/>
          <p:nvPr/>
        </p:nvSpPr>
        <p:spPr>
          <a:xfrm>
            <a:off x="502920" y="868680"/>
            <a:ext cx="1005840" cy="1005840"/>
          </a:xfrm>
          <a:prstGeom prst="ellipse">
            <a:avLst/>
          </a:prstGeom>
          <a:solidFill>
            <a:srgbClr val="2846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3600" b="1">
                <a:solidFill>
                  <a:srgbClr val="F7C031"/>
                </a:solidFill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91640" y="868680"/>
            <a:ext cx="100584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100" b="1" i="0">
                <a:solidFill>
                  <a:srgbClr val="F7C031"/>
                </a:solidFill>
                <a:latin typeface="Calibri"/>
              </a:rPr>
              <a:t>LÁMINA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188720"/>
            <a:ext cx="10241280" cy="8229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2600" b="1" i="0">
                <a:solidFill>
                  <a:srgbClr val="28467E"/>
                </a:solidFill>
                <a:latin typeface="Calibri"/>
              </a:rPr>
              <a:t>Lámina 1 · Bienvenida y objetivos del material</a:t>
            </a:r>
          </a:p>
        </p:txBody>
      </p:sp>
      <p:sp>
        <p:nvSpPr>
          <p:cNvPr id="10" name="Rectangle 9"/>
          <p:cNvSpPr/>
          <p:nvPr/>
        </p:nvSpPr>
        <p:spPr>
          <a:xfrm>
            <a:off x="1691640" y="1993392"/>
            <a:ext cx="2286000" cy="54864"/>
          </a:xfrm>
          <a:prstGeom prst="rect">
            <a:avLst/>
          </a:prstGeom>
          <a:solidFill>
            <a:srgbClr val="F7C0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2194560"/>
            <a:ext cx="11247120" cy="7315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300" b="0" i="1">
                <a:solidFill>
                  <a:srgbClr val="4B5563"/>
                </a:solidFill>
                <a:latin typeface="Calibri"/>
              </a:rPr>
              <a:t>¿Qué van a aprender? ¿Cuánto tiempo tomará? ¿Para qué les servirá en su día a día?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3200400"/>
            <a:ext cx="6400800" cy="3200400"/>
          </a:xfrm>
          <a:prstGeom prst="rect">
            <a:avLst/>
          </a:prstGeom>
          <a:solidFill>
            <a:srgbClr val="EAF4FF"/>
          </a:solidFill>
          <a:ln w="9525">
            <a:solidFill>
              <a:srgbClr val="D9E4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/>
          <a:lstStyle/>
          <a:p>
            <a:pPr algn="ctr"/>
            <a:r>
              <a:rPr sz="1300" i="1">
                <a:solidFill>
                  <a:srgbClr val="529ED7"/>
                </a:solidFill>
              </a:rPr>
              <a:t>📷  Inserta aquí la captura
[Sugerencia: marca con círculo rojo cada zona importante]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040880" y="3200400"/>
            <a:ext cx="4663440" cy="3200400"/>
          </a:xfrm>
          <a:prstGeom prst="rect">
            <a:avLst/>
          </a:prstGeom>
          <a:solidFill>
            <a:srgbClr val="FAF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182880"/>
          <a:lstStyle/>
          <a:p>
            <a:pPr algn="ctr"/>
            <a:r>
              <a:rPr sz="1100" b="1">
                <a:solidFill>
                  <a:srgbClr val="28467E"/>
                </a:solidFill>
              </a:rPr>
              <a:t>NOTAS PARA EL CAPACITADOR</a:t>
            </a:r>
          </a:p>
          <a:p>
            <a:pPr>
              <a:spcBef>
                <a:spcPts val="800"/>
              </a:spcBef>
            </a:pPr>
            <a:r>
              <a:rPr sz="1200" i="1">
                <a:solidFill>
                  <a:srgbClr val="4B5563"/>
                </a:solidFill>
              </a:rPr>
              <a:t>[ Escribe aquí qué decir mientras muestras la captura. Ejemplos reales de la MiPyME van mejor que descripciones genéricas. ]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7C0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000" b="1" i="0">
                <a:solidFill>
                  <a:srgbClr val="28467E"/>
                </a:solidFill>
                <a:latin typeface="Calibri"/>
              </a:rPr>
              <a:t>Mi CompañIA  ·  FUNDES México  ·  AIxMiPyMEs   ·   5 / 12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2846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57200"/>
            <a:ext cx="12191695" cy="54864"/>
          </a:xfrm>
          <a:prstGeom prst="rect">
            <a:avLst/>
          </a:prstGeom>
          <a:solidFill>
            <a:srgbClr val="F7C0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45720"/>
            <a:ext cx="3200400" cy="36576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400" b="1" i="0">
                <a:solidFill>
                  <a:srgbClr val="F7C031"/>
                </a:solidFill>
                <a:latin typeface="Calibri"/>
              </a:rPr>
              <a:t>Mi CompañIA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566160" y="45720"/>
            <a:ext cx="6858000" cy="36576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· Material de capacitación para la adopción de soluciones de IA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45720"/>
            <a:ext cx="1645920" cy="36576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r"/>
            <a:r>
              <a:rPr sz="1200" b="1" i="0">
                <a:solidFill>
                  <a:srgbClr val="F7C031"/>
                </a:solidFill>
                <a:latin typeface="Calibri"/>
              </a:rPr>
              <a:t>Producto 2.3</a:t>
            </a:r>
          </a:p>
        </p:txBody>
      </p:sp>
      <p:sp>
        <p:nvSpPr>
          <p:cNvPr id="7" name="Oval 6"/>
          <p:cNvSpPr/>
          <p:nvPr/>
        </p:nvSpPr>
        <p:spPr>
          <a:xfrm>
            <a:off x="502920" y="868680"/>
            <a:ext cx="1005840" cy="1005840"/>
          </a:xfrm>
          <a:prstGeom prst="ellipse">
            <a:avLst/>
          </a:prstGeom>
          <a:solidFill>
            <a:srgbClr val="2846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3600" b="1">
                <a:solidFill>
                  <a:srgbClr val="F7C031"/>
                </a:solidFill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91640" y="868680"/>
            <a:ext cx="100584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100" b="1" i="0">
                <a:solidFill>
                  <a:srgbClr val="F7C031"/>
                </a:solidFill>
                <a:latin typeface="Calibri"/>
              </a:rPr>
              <a:t>LÁMINA 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188720"/>
            <a:ext cx="10241280" cy="8229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2600" b="1" i="0">
                <a:solidFill>
                  <a:srgbClr val="28467E"/>
                </a:solidFill>
                <a:latin typeface="Calibri"/>
              </a:rPr>
              <a:t>Láminas 2-N · Instrucciones paso a paso por herramienta</a:t>
            </a:r>
          </a:p>
        </p:txBody>
      </p:sp>
      <p:sp>
        <p:nvSpPr>
          <p:cNvPr id="10" name="Rectangle 9"/>
          <p:cNvSpPr/>
          <p:nvPr/>
        </p:nvSpPr>
        <p:spPr>
          <a:xfrm>
            <a:off x="1691640" y="1993392"/>
            <a:ext cx="2286000" cy="54864"/>
          </a:xfrm>
          <a:prstGeom prst="rect">
            <a:avLst/>
          </a:prstGeom>
          <a:solidFill>
            <a:srgbClr val="F7C0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2194560"/>
            <a:ext cx="11247120" cy="7315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300" b="0" i="1">
                <a:solidFill>
                  <a:srgbClr val="4B5563"/>
                </a:solidFill>
                <a:latin typeface="Calibri"/>
              </a:rPr>
              <a:t>Por cada herramienta: capturas numeradas con el flujo completo de uso. Si la herramienta tiene 5 botones importantes, dedica 1 lámina por botón. Visual antes que texto.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3200400"/>
            <a:ext cx="6400800" cy="3200400"/>
          </a:xfrm>
          <a:prstGeom prst="rect">
            <a:avLst/>
          </a:prstGeom>
          <a:solidFill>
            <a:srgbClr val="EAF4FF"/>
          </a:solidFill>
          <a:ln w="9525">
            <a:solidFill>
              <a:srgbClr val="D9E4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/>
          <a:lstStyle/>
          <a:p>
            <a:pPr algn="ctr"/>
            <a:r>
              <a:rPr sz="1300" i="1">
                <a:solidFill>
                  <a:srgbClr val="529ED7"/>
                </a:solidFill>
              </a:rPr>
              <a:t>📷  Inserta aquí la captura
[Sugerencia: marca con círculo rojo cada zona importante]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040880" y="3200400"/>
            <a:ext cx="4663440" cy="3200400"/>
          </a:xfrm>
          <a:prstGeom prst="rect">
            <a:avLst/>
          </a:prstGeom>
          <a:solidFill>
            <a:srgbClr val="FAF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182880"/>
          <a:lstStyle/>
          <a:p>
            <a:pPr algn="ctr"/>
            <a:r>
              <a:rPr sz="1100" b="1">
                <a:solidFill>
                  <a:srgbClr val="28467E"/>
                </a:solidFill>
              </a:rPr>
              <a:t>NOTAS PARA EL CAPACITADOR</a:t>
            </a:r>
          </a:p>
          <a:p>
            <a:pPr>
              <a:spcBef>
                <a:spcPts val="800"/>
              </a:spcBef>
            </a:pPr>
            <a:r>
              <a:rPr sz="1200" i="1">
                <a:solidFill>
                  <a:srgbClr val="4B5563"/>
                </a:solidFill>
              </a:rPr>
              <a:t>[ Escribe aquí qué decir mientras muestras la captura. Ejemplos reales de la MiPyME van mejor que descripciones genéricas. ]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7C0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000" b="1" i="0">
                <a:solidFill>
                  <a:srgbClr val="28467E"/>
                </a:solidFill>
                <a:latin typeface="Calibri"/>
              </a:rPr>
              <a:t>Mi CompañIA  ·  FUNDES México  ·  AIxMiPyMEs   ·   6 / 12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2846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57200"/>
            <a:ext cx="12191695" cy="54864"/>
          </a:xfrm>
          <a:prstGeom prst="rect">
            <a:avLst/>
          </a:prstGeom>
          <a:solidFill>
            <a:srgbClr val="F7C0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45720"/>
            <a:ext cx="3200400" cy="36576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400" b="1" i="0">
                <a:solidFill>
                  <a:srgbClr val="F7C031"/>
                </a:solidFill>
                <a:latin typeface="Calibri"/>
              </a:rPr>
              <a:t>Mi CompañIA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566160" y="45720"/>
            <a:ext cx="6858000" cy="36576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· Material de capacitación para la adopción de soluciones de IA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45720"/>
            <a:ext cx="1645920" cy="36576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r"/>
            <a:r>
              <a:rPr sz="1200" b="1" i="0">
                <a:solidFill>
                  <a:srgbClr val="F7C031"/>
                </a:solidFill>
                <a:latin typeface="Calibri"/>
              </a:rPr>
              <a:t>Producto 2.3</a:t>
            </a:r>
          </a:p>
        </p:txBody>
      </p:sp>
      <p:sp>
        <p:nvSpPr>
          <p:cNvPr id="7" name="Oval 6"/>
          <p:cNvSpPr/>
          <p:nvPr/>
        </p:nvSpPr>
        <p:spPr>
          <a:xfrm>
            <a:off x="502920" y="868680"/>
            <a:ext cx="1005840" cy="1005840"/>
          </a:xfrm>
          <a:prstGeom prst="ellipse">
            <a:avLst/>
          </a:prstGeom>
          <a:solidFill>
            <a:srgbClr val="2846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3600" b="1">
                <a:solidFill>
                  <a:srgbClr val="F7C031"/>
                </a:solidFill>
              </a:rP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91640" y="868680"/>
            <a:ext cx="100584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100" b="1" i="0">
                <a:solidFill>
                  <a:srgbClr val="F7C031"/>
                </a:solidFill>
                <a:latin typeface="Calibri"/>
              </a:rPr>
              <a:t>LÁMINA 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188720"/>
            <a:ext cx="10241280" cy="8229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2600" b="1" i="0">
                <a:solidFill>
                  <a:srgbClr val="28467E"/>
                </a:solidFill>
                <a:latin typeface="Calibri"/>
              </a:rPr>
              <a:t>Ejemplos aplicados al contexto de la MiPyME</a:t>
            </a:r>
          </a:p>
        </p:txBody>
      </p:sp>
      <p:sp>
        <p:nvSpPr>
          <p:cNvPr id="10" name="Rectangle 9"/>
          <p:cNvSpPr/>
          <p:nvPr/>
        </p:nvSpPr>
        <p:spPr>
          <a:xfrm>
            <a:off x="1691640" y="1993392"/>
            <a:ext cx="2286000" cy="54864"/>
          </a:xfrm>
          <a:prstGeom prst="rect">
            <a:avLst/>
          </a:prstGeom>
          <a:solidFill>
            <a:srgbClr val="F7C0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2194560"/>
            <a:ext cx="11247120" cy="7315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300" b="0" i="1">
                <a:solidFill>
                  <a:srgbClr val="4B5563"/>
                </a:solidFill>
                <a:latin typeface="Calibri"/>
              </a:rPr>
              <a:t>Por cada herramienta: 2-3 ejemplos REALES de la MiPyME (no ejemplos genéricos). El personal debe poder decir 'ah, eso lo hago yo el lunes en la mañana'.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3200400"/>
            <a:ext cx="6400800" cy="3200400"/>
          </a:xfrm>
          <a:prstGeom prst="rect">
            <a:avLst/>
          </a:prstGeom>
          <a:solidFill>
            <a:srgbClr val="EAF4FF"/>
          </a:solidFill>
          <a:ln w="9525">
            <a:solidFill>
              <a:srgbClr val="D9E4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/>
          <a:lstStyle/>
          <a:p>
            <a:pPr algn="ctr"/>
            <a:r>
              <a:rPr sz="1300" i="1">
                <a:solidFill>
                  <a:srgbClr val="529ED7"/>
                </a:solidFill>
              </a:rPr>
              <a:t>📷  Inserta aquí la captura
[Sugerencia: marca con círculo rojo cada zona importante]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040880" y="3200400"/>
            <a:ext cx="4663440" cy="3200400"/>
          </a:xfrm>
          <a:prstGeom prst="rect">
            <a:avLst/>
          </a:prstGeom>
          <a:solidFill>
            <a:srgbClr val="FAF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182880"/>
          <a:lstStyle/>
          <a:p>
            <a:pPr algn="ctr"/>
            <a:r>
              <a:rPr sz="1100" b="1">
                <a:solidFill>
                  <a:srgbClr val="28467E"/>
                </a:solidFill>
              </a:rPr>
              <a:t>NOTAS PARA EL CAPACITADOR</a:t>
            </a:r>
          </a:p>
          <a:p>
            <a:pPr>
              <a:spcBef>
                <a:spcPts val="800"/>
              </a:spcBef>
            </a:pPr>
            <a:r>
              <a:rPr sz="1200" i="1">
                <a:solidFill>
                  <a:srgbClr val="4B5563"/>
                </a:solidFill>
              </a:rPr>
              <a:t>[ Escribe aquí qué decir mientras muestras la captura. Ejemplos reales de la MiPyME van mejor que descripciones genéricas. ]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7C0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000" b="1" i="0">
                <a:solidFill>
                  <a:srgbClr val="28467E"/>
                </a:solidFill>
                <a:latin typeface="Calibri"/>
              </a:rPr>
              <a:t>Mi CompañIA  ·  FUNDES México  ·  AIxMiPyMEs   ·   7 / 12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2846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57200"/>
            <a:ext cx="12191695" cy="54864"/>
          </a:xfrm>
          <a:prstGeom prst="rect">
            <a:avLst/>
          </a:prstGeom>
          <a:solidFill>
            <a:srgbClr val="F7C0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45720"/>
            <a:ext cx="3200400" cy="36576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400" b="1" i="0">
                <a:solidFill>
                  <a:srgbClr val="F7C031"/>
                </a:solidFill>
                <a:latin typeface="Calibri"/>
              </a:rPr>
              <a:t>Mi CompañIA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566160" y="45720"/>
            <a:ext cx="6858000" cy="36576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· Material de capacitación para la adopción de soluciones de IA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45720"/>
            <a:ext cx="1645920" cy="36576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r"/>
            <a:r>
              <a:rPr sz="1200" b="1" i="0">
                <a:solidFill>
                  <a:srgbClr val="F7C031"/>
                </a:solidFill>
                <a:latin typeface="Calibri"/>
              </a:rPr>
              <a:t>Producto 2.3</a:t>
            </a:r>
          </a:p>
        </p:txBody>
      </p:sp>
      <p:sp>
        <p:nvSpPr>
          <p:cNvPr id="7" name="Oval 6"/>
          <p:cNvSpPr/>
          <p:nvPr/>
        </p:nvSpPr>
        <p:spPr>
          <a:xfrm>
            <a:off x="502920" y="868680"/>
            <a:ext cx="1005840" cy="1005840"/>
          </a:xfrm>
          <a:prstGeom prst="ellipse">
            <a:avLst/>
          </a:prstGeom>
          <a:solidFill>
            <a:srgbClr val="2846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3600" b="1">
                <a:solidFill>
                  <a:srgbClr val="F7C031"/>
                </a:solidFill>
              </a:rPr>
              <a:t>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91640" y="868680"/>
            <a:ext cx="100584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100" b="1" i="0">
                <a:solidFill>
                  <a:srgbClr val="F7C031"/>
                </a:solidFill>
                <a:latin typeface="Calibri"/>
              </a:rPr>
              <a:t>LÁMINA 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188720"/>
            <a:ext cx="10241280" cy="8229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2600" b="1" i="0">
                <a:solidFill>
                  <a:srgbClr val="28467E"/>
                </a:solidFill>
                <a:latin typeface="Calibri"/>
              </a:rPr>
              <a:t>Prompts recomendados</a:t>
            </a:r>
          </a:p>
        </p:txBody>
      </p:sp>
      <p:sp>
        <p:nvSpPr>
          <p:cNvPr id="10" name="Rectangle 9"/>
          <p:cNvSpPr/>
          <p:nvPr/>
        </p:nvSpPr>
        <p:spPr>
          <a:xfrm>
            <a:off x="1691640" y="1993392"/>
            <a:ext cx="2286000" cy="54864"/>
          </a:xfrm>
          <a:prstGeom prst="rect">
            <a:avLst/>
          </a:prstGeom>
          <a:solidFill>
            <a:srgbClr val="F7C0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2194560"/>
            <a:ext cx="11247120" cy="7315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300" b="0" i="1">
                <a:solidFill>
                  <a:srgbClr val="4B5563"/>
                </a:solidFill>
                <a:latin typeface="Calibri"/>
              </a:rPr>
              <a:t>Lista de 5-10 prompts que ya funcionan para los casos típicos. El personal los copia/pega; no se les pide redactar prompts desde cero.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3200400"/>
            <a:ext cx="109728" cy="1371600"/>
          </a:xfrm>
          <a:prstGeom prst="rect">
            <a:avLst/>
          </a:prstGeom>
          <a:solidFill>
            <a:srgbClr val="F7C0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66928" y="3200400"/>
            <a:ext cx="11155680" cy="1371600"/>
          </a:xfrm>
          <a:prstGeom prst="rect">
            <a:avLst/>
          </a:prstGeom>
          <a:solidFill>
            <a:srgbClr val="FFF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37160" rIns="274320"/>
          <a:lstStyle/>
          <a:p>
            <a:pPr algn="ctr"/>
            <a:r>
              <a:rPr sz="1000" b="1">
                <a:solidFill>
                  <a:srgbClr val="28467E"/>
                </a:solidFill>
              </a:rPr>
              <a:t>PROMPT SUGERIDO</a:t>
            </a:r>
          </a:p>
          <a:p>
            <a:pPr>
              <a:spcBef>
                <a:spcPts val="400"/>
              </a:spcBef>
            </a:pPr>
            <a:r>
              <a:rPr sz="1300" i="1">
                <a:solidFill>
                  <a:srgbClr val="28467E"/>
                </a:solidFill>
                <a:latin typeface="Courier New"/>
              </a:rPr>
              <a:t>[ Pega aquí un prompt completo: rol del asistente + contexto de la MiPyME + formato de salida esperado + ejemplo. ]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4754880"/>
            <a:ext cx="109728" cy="1371600"/>
          </a:xfrm>
          <a:prstGeom prst="rect">
            <a:avLst/>
          </a:prstGeom>
          <a:solidFill>
            <a:srgbClr val="2846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66928" y="4754880"/>
            <a:ext cx="11155680" cy="1371600"/>
          </a:xfrm>
          <a:prstGeom prst="rect">
            <a:avLst/>
          </a:prstGeom>
          <a:solidFill>
            <a:srgbClr val="EA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37160" rIns="274320"/>
          <a:lstStyle/>
          <a:p>
            <a:pPr algn="ctr"/>
            <a:r>
              <a:rPr sz="1000" b="1">
                <a:solidFill>
                  <a:srgbClr val="28467E"/>
                </a:solidFill>
              </a:rPr>
              <a:t>OTRO PROMPT</a:t>
            </a:r>
          </a:p>
          <a:p>
            <a:pPr>
              <a:spcBef>
                <a:spcPts val="400"/>
              </a:spcBef>
            </a:pPr>
            <a:r>
              <a:rPr sz="1300" i="1">
                <a:solidFill>
                  <a:srgbClr val="28467E"/>
                </a:solidFill>
                <a:latin typeface="Courier New"/>
              </a:rPr>
              <a:t>[ Pega aquí un prompt completo: rol del asistente + contexto de la MiPyME + formato de salida esperado + ejemplo. ]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7C0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000" b="1" i="0">
                <a:solidFill>
                  <a:srgbClr val="28467E"/>
                </a:solidFill>
                <a:latin typeface="Calibri"/>
              </a:rPr>
              <a:t>Mi CompañIA  ·  FUNDES México  ·  AIxMiPyMEs   ·   8 / 12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2846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57200"/>
            <a:ext cx="12191695" cy="54864"/>
          </a:xfrm>
          <a:prstGeom prst="rect">
            <a:avLst/>
          </a:prstGeom>
          <a:solidFill>
            <a:srgbClr val="F7C0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45720"/>
            <a:ext cx="3200400" cy="36576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400" b="1" i="0">
                <a:solidFill>
                  <a:srgbClr val="F7C031"/>
                </a:solidFill>
                <a:latin typeface="Calibri"/>
              </a:rPr>
              <a:t>Mi CompañIA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566160" y="45720"/>
            <a:ext cx="6858000" cy="36576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· Material de capacitación para la adopción de soluciones de IA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45720"/>
            <a:ext cx="1645920" cy="36576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r"/>
            <a:r>
              <a:rPr sz="1200" b="1" i="0">
                <a:solidFill>
                  <a:srgbClr val="F7C031"/>
                </a:solidFill>
                <a:latin typeface="Calibri"/>
              </a:rPr>
              <a:t>Producto 2.3</a:t>
            </a:r>
          </a:p>
        </p:txBody>
      </p:sp>
      <p:sp>
        <p:nvSpPr>
          <p:cNvPr id="7" name="Oval 6"/>
          <p:cNvSpPr/>
          <p:nvPr/>
        </p:nvSpPr>
        <p:spPr>
          <a:xfrm>
            <a:off x="502920" y="868680"/>
            <a:ext cx="1005840" cy="1005840"/>
          </a:xfrm>
          <a:prstGeom prst="ellipse">
            <a:avLst/>
          </a:prstGeom>
          <a:solidFill>
            <a:srgbClr val="2846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3600" b="1">
                <a:solidFill>
                  <a:srgbClr val="F7C031"/>
                </a:solidFill>
              </a:rPr>
              <a:t>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91640" y="868680"/>
            <a:ext cx="100584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100" b="1" i="0">
                <a:solidFill>
                  <a:srgbClr val="F7C031"/>
                </a:solidFill>
                <a:latin typeface="Calibri"/>
              </a:rPr>
              <a:t>LÁMINA 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188720"/>
            <a:ext cx="10241280" cy="8229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2600" b="1" i="0">
                <a:solidFill>
                  <a:srgbClr val="28467E"/>
                </a:solidFill>
                <a:latin typeface="Calibri"/>
              </a:rPr>
              <a:t>Errores frecuentes y qué hacer</a:t>
            </a:r>
          </a:p>
        </p:txBody>
      </p:sp>
      <p:sp>
        <p:nvSpPr>
          <p:cNvPr id="10" name="Rectangle 9"/>
          <p:cNvSpPr/>
          <p:nvPr/>
        </p:nvSpPr>
        <p:spPr>
          <a:xfrm>
            <a:off x="1691640" y="1993392"/>
            <a:ext cx="2286000" cy="54864"/>
          </a:xfrm>
          <a:prstGeom prst="rect">
            <a:avLst/>
          </a:prstGeom>
          <a:solidFill>
            <a:srgbClr val="F7C0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2194560"/>
            <a:ext cx="11247120" cy="7315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300" b="0" i="1">
                <a:solidFill>
                  <a:srgbClr val="4B5563"/>
                </a:solidFill>
                <a:latin typeface="Calibri"/>
              </a:rPr>
              <a:t>Tabla con: error común → cómo identificarlo → cómo resolverlo → cuándo escalar al consultor o a Carlos/Doña Beatriz.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457200" y="3200400"/>
          <a:ext cx="1124712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2286000"/>
                <a:gridCol w="3383280"/>
                <a:gridCol w="3200400"/>
              </a:tblGrid>
              <a:tr h="64008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Error frecuente</a:t>
                      </a:r>
                    </a:p>
                  </a:txBody>
                  <a:tcPr>
                    <a:solidFill>
                      <a:srgbClr val="28467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Cómo identificarlo</a:t>
                      </a:r>
                    </a:p>
                  </a:txBody>
                  <a:tcPr>
                    <a:solidFill>
                      <a:srgbClr val="28467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Cómo resolverlo</a:t>
                      </a:r>
                    </a:p>
                  </a:txBody>
                  <a:tcPr>
                    <a:solidFill>
                      <a:srgbClr val="28467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Cuándo escalar</a:t>
                      </a:r>
                    </a:p>
                  </a:txBody>
                  <a:tcPr>
                    <a:solidFill>
                      <a:srgbClr val="28467E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/>
                  </a:txBody>
                  <a:tcPr>
                    <a:solidFill>
                      <a:srgbClr val="FAFC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AFC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AFC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AFC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/>
                  </a:txBody>
                  <a:tcPr>
                    <a:solidFill>
                      <a:srgbClr val="FAFC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AFC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AFC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AFC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Rectangle 12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7C0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000" b="1" i="0">
                <a:solidFill>
                  <a:srgbClr val="28467E"/>
                </a:solidFill>
                <a:latin typeface="Calibri"/>
              </a:rPr>
              <a:t>Mi CompañIA  ·  FUNDES México  ·  AIxMiPyMEs   ·   9 / 12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2846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57200"/>
            <a:ext cx="12191695" cy="54864"/>
          </a:xfrm>
          <a:prstGeom prst="rect">
            <a:avLst/>
          </a:prstGeom>
          <a:solidFill>
            <a:srgbClr val="F7C0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45720"/>
            <a:ext cx="3200400" cy="36576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400" b="1" i="0">
                <a:solidFill>
                  <a:srgbClr val="F7C031"/>
                </a:solidFill>
                <a:latin typeface="Calibri"/>
              </a:rPr>
              <a:t>Mi CompañIA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566160" y="45720"/>
            <a:ext cx="6858000" cy="36576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· Material de capacitación para la adopción de soluciones de IA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45720"/>
            <a:ext cx="1645920" cy="36576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r"/>
            <a:r>
              <a:rPr sz="1200" b="1" i="0">
                <a:solidFill>
                  <a:srgbClr val="F7C031"/>
                </a:solidFill>
                <a:latin typeface="Calibri"/>
              </a:rPr>
              <a:t>Producto 2.3</a:t>
            </a:r>
          </a:p>
        </p:txBody>
      </p:sp>
      <p:sp>
        <p:nvSpPr>
          <p:cNvPr id="7" name="Oval 6"/>
          <p:cNvSpPr/>
          <p:nvPr/>
        </p:nvSpPr>
        <p:spPr>
          <a:xfrm>
            <a:off x="502920" y="868680"/>
            <a:ext cx="1005840" cy="1005840"/>
          </a:xfrm>
          <a:prstGeom prst="ellipse">
            <a:avLst/>
          </a:prstGeom>
          <a:solidFill>
            <a:srgbClr val="2846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3600" b="1">
                <a:solidFill>
                  <a:srgbClr val="F7C031"/>
                </a:solidFill>
              </a:rPr>
              <a:t>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91640" y="868680"/>
            <a:ext cx="100584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100" b="1" i="0">
                <a:solidFill>
                  <a:srgbClr val="F7C031"/>
                </a:solidFill>
                <a:latin typeface="Calibri"/>
              </a:rPr>
              <a:t>LÁMINA 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188720"/>
            <a:ext cx="10241280" cy="8229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2600" b="1" i="0">
                <a:solidFill>
                  <a:srgbClr val="28467E"/>
                </a:solidFill>
                <a:latin typeface="Calibri"/>
              </a:rPr>
              <a:t>Adaptación al nivel digital del personal</a:t>
            </a:r>
          </a:p>
        </p:txBody>
      </p:sp>
      <p:sp>
        <p:nvSpPr>
          <p:cNvPr id="10" name="Rectangle 9"/>
          <p:cNvSpPr/>
          <p:nvPr/>
        </p:nvSpPr>
        <p:spPr>
          <a:xfrm>
            <a:off x="1691640" y="1993392"/>
            <a:ext cx="2286000" cy="54864"/>
          </a:xfrm>
          <a:prstGeom prst="rect">
            <a:avLst/>
          </a:prstGeom>
          <a:solidFill>
            <a:srgbClr val="F7C0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2194560"/>
            <a:ext cx="11247120" cy="7315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300" b="0" i="1">
                <a:solidFill>
                  <a:srgbClr val="4B5563"/>
                </a:solidFill>
                <a:latin typeface="Calibri"/>
              </a:rPr>
              <a:t>Si el personal no maneja tecnicismos, usa lenguaje cotidiano. Si están acostumbrados a apps, puedes ir más rápido.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3200400"/>
            <a:ext cx="6400800" cy="3200400"/>
          </a:xfrm>
          <a:prstGeom prst="rect">
            <a:avLst/>
          </a:prstGeom>
          <a:solidFill>
            <a:srgbClr val="EAF4FF"/>
          </a:solidFill>
          <a:ln w="9525">
            <a:solidFill>
              <a:srgbClr val="D9E4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/>
          <a:lstStyle/>
          <a:p>
            <a:pPr algn="ctr"/>
            <a:r>
              <a:rPr sz="1300" i="1">
                <a:solidFill>
                  <a:srgbClr val="529ED7"/>
                </a:solidFill>
              </a:rPr>
              <a:t>📷  Inserta aquí la captura
[Sugerencia: marca con círculo rojo cada zona importante]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040880" y="3200400"/>
            <a:ext cx="4663440" cy="3200400"/>
          </a:xfrm>
          <a:prstGeom prst="rect">
            <a:avLst/>
          </a:prstGeom>
          <a:solidFill>
            <a:srgbClr val="FAF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182880"/>
          <a:lstStyle/>
          <a:p>
            <a:pPr algn="ctr"/>
            <a:r>
              <a:rPr sz="1100" b="1">
                <a:solidFill>
                  <a:srgbClr val="28467E"/>
                </a:solidFill>
              </a:rPr>
              <a:t>NOTAS PARA EL CAPACITADOR</a:t>
            </a:r>
          </a:p>
          <a:p>
            <a:pPr>
              <a:spcBef>
                <a:spcPts val="800"/>
              </a:spcBef>
            </a:pPr>
            <a:r>
              <a:rPr sz="1200" i="1">
                <a:solidFill>
                  <a:srgbClr val="4B5563"/>
                </a:solidFill>
              </a:rPr>
              <a:t>[ Escribe aquí qué decir mientras muestras la captura. Ejemplos reales de la MiPyME van mejor que descripciones genéricas. ]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7C0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000" b="1" i="0">
                <a:solidFill>
                  <a:srgbClr val="28467E"/>
                </a:solidFill>
                <a:latin typeface="Calibri"/>
              </a:rPr>
              <a:t>Mi CompañIA  ·  FUNDES México  ·  AIxMiPyMEs   ·   10 / 12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2846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57200"/>
            <a:ext cx="12191695" cy="54864"/>
          </a:xfrm>
          <a:prstGeom prst="rect">
            <a:avLst/>
          </a:prstGeom>
          <a:solidFill>
            <a:srgbClr val="F7C0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45720"/>
            <a:ext cx="3200400" cy="36576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400" b="1" i="0">
                <a:solidFill>
                  <a:srgbClr val="F7C031"/>
                </a:solidFill>
                <a:latin typeface="Calibri"/>
              </a:rPr>
              <a:t>Mi CompañIA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566160" y="45720"/>
            <a:ext cx="6858000" cy="36576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· Material de capacitación para la adopción de soluciones de IA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45720"/>
            <a:ext cx="1645920" cy="36576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r"/>
            <a:r>
              <a:rPr sz="1200" b="1" i="0">
                <a:solidFill>
                  <a:srgbClr val="F7C031"/>
                </a:solidFill>
                <a:latin typeface="Calibri"/>
              </a:rPr>
              <a:t>Producto 2.3</a:t>
            </a:r>
          </a:p>
        </p:txBody>
      </p:sp>
      <p:sp>
        <p:nvSpPr>
          <p:cNvPr id="7" name="Oval 6"/>
          <p:cNvSpPr/>
          <p:nvPr/>
        </p:nvSpPr>
        <p:spPr>
          <a:xfrm>
            <a:off x="502920" y="868680"/>
            <a:ext cx="1005840" cy="1005840"/>
          </a:xfrm>
          <a:prstGeom prst="ellipse">
            <a:avLst/>
          </a:prstGeom>
          <a:solidFill>
            <a:srgbClr val="2846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3600" b="1">
                <a:solidFill>
                  <a:srgbClr val="F7C031"/>
                </a:solidFill>
              </a:rPr>
              <a:t>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91640" y="868680"/>
            <a:ext cx="100584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100" b="1" i="0">
                <a:solidFill>
                  <a:srgbClr val="F7C031"/>
                </a:solidFill>
                <a:latin typeface="Calibri"/>
              </a:rPr>
              <a:t>LÁMINA 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188720"/>
            <a:ext cx="10241280" cy="8229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2600" b="1" i="0">
                <a:solidFill>
                  <a:srgbClr val="28467E"/>
                </a:solidFill>
                <a:latin typeface="Calibri"/>
              </a:rPr>
              <a:t>Lámina final · Recursos y soporte</a:t>
            </a:r>
          </a:p>
        </p:txBody>
      </p:sp>
      <p:sp>
        <p:nvSpPr>
          <p:cNvPr id="10" name="Rectangle 9"/>
          <p:cNvSpPr/>
          <p:nvPr/>
        </p:nvSpPr>
        <p:spPr>
          <a:xfrm>
            <a:off x="1691640" y="1993392"/>
            <a:ext cx="2286000" cy="54864"/>
          </a:xfrm>
          <a:prstGeom prst="rect">
            <a:avLst/>
          </a:prstGeom>
          <a:solidFill>
            <a:srgbClr val="F7C0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2194560"/>
            <a:ext cx="11247120" cy="7315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300" b="0" i="1">
                <a:solidFill>
                  <a:srgbClr val="4B5563"/>
                </a:solidFill>
                <a:latin typeface="Calibri"/>
              </a:rPr>
              <a:t>¿A quién acudir si algo falla? ¿Dónde encontrar este material después? ¿Cuándo se actualiza?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3200400"/>
            <a:ext cx="6400800" cy="3200400"/>
          </a:xfrm>
          <a:prstGeom prst="rect">
            <a:avLst/>
          </a:prstGeom>
          <a:solidFill>
            <a:srgbClr val="EAF4FF"/>
          </a:solidFill>
          <a:ln w="9525">
            <a:solidFill>
              <a:srgbClr val="D9E4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/>
          <a:lstStyle/>
          <a:p>
            <a:pPr algn="ctr"/>
            <a:r>
              <a:rPr sz="1300" i="1">
                <a:solidFill>
                  <a:srgbClr val="529ED7"/>
                </a:solidFill>
              </a:rPr>
              <a:t>📷  Inserta aquí la captura
[Sugerencia: marca con círculo rojo cada zona importante]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040880" y="3200400"/>
            <a:ext cx="4663440" cy="3200400"/>
          </a:xfrm>
          <a:prstGeom prst="rect">
            <a:avLst/>
          </a:prstGeom>
          <a:solidFill>
            <a:srgbClr val="FAF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182880"/>
          <a:lstStyle/>
          <a:p>
            <a:pPr algn="ctr"/>
            <a:r>
              <a:rPr sz="1100" b="1">
                <a:solidFill>
                  <a:srgbClr val="28467E"/>
                </a:solidFill>
              </a:rPr>
              <a:t>NOTAS PARA EL CAPACITADOR</a:t>
            </a:r>
          </a:p>
          <a:p>
            <a:pPr>
              <a:spcBef>
                <a:spcPts val="800"/>
              </a:spcBef>
            </a:pPr>
            <a:r>
              <a:rPr sz="1200" i="1">
                <a:solidFill>
                  <a:srgbClr val="4B5563"/>
                </a:solidFill>
              </a:rPr>
              <a:t>[ Escribe aquí qué decir mientras muestras la captura. Ejemplos reales de la MiPyME van mejor que descripciones genéricas. ]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7C0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000" b="1" i="0">
                <a:solidFill>
                  <a:srgbClr val="28467E"/>
                </a:solidFill>
                <a:latin typeface="Calibri"/>
              </a:rPr>
              <a:t>Mi CompañIA  ·  FUNDES México  ·  AIxMiPyMEs   ·   11 / 12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846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194560"/>
            <a:ext cx="11247120" cy="13716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4200" b="1" i="0">
                <a:solidFill>
                  <a:srgbClr val="F7C031"/>
                </a:solidFill>
                <a:latin typeface="Calibri"/>
              </a:rPr>
              <a:t>¿Dudas durante la operación?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657600"/>
            <a:ext cx="11247120" cy="7315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800" b="0" i="0">
                <a:solidFill>
                  <a:srgbClr val="FFFFFF"/>
                </a:solidFill>
                <a:latin typeface="Calibri"/>
              </a:rPr>
              <a:t>Tu consultor sigue disponible. Datos de contacto en el Acta de cierre (producto 4.4.2).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0"/>
            <a:ext cx="11247120" cy="5486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400" b="0" i="1">
                <a:solidFill>
                  <a:srgbClr val="EAF4FF"/>
                </a:solidFill>
                <a:latin typeface="Calibri"/>
              </a:rPr>
              <a:t>Este material puede actualizarse cuando se añadan nuevas FAQ o flujos.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263640"/>
            <a:ext cx="12191695" cy="594360"/>
          </a:xfrm>
          <a:prstGeom prst="rect">
            <a:avLst/>
          </a:prstGeom>
          <a:solidFill>
            <a:srgbClr val="F7C0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0" y="6355080"/>
            <a:ext cx="12191695" cy="4572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300" b="1" i="0">
                <a:solidFill>
                  <a:srgbClr val="28467E"/>
                </a:solidFill>
                <a:latin typeface="Calibri"/>
              </a:rPr>
              <a:t>Mi CompañIA  ·  FUNDES México con el apoyo de Google.org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