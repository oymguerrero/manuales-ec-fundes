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109728" cy="685800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772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7C031"/>
                </a:solidFill>
                <a:latin typeface="Calibri"/>
              </a:rPr>
              <a:t>PRODUCTO 3.4.3  ·  ELEMENTO 2 · Ejecutar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Material de capacitación para la adopción de soluciones de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7772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1">
                <a:solidFill>
                  <a:srgbClr val="EAF4FF"/>
                </a:solidFill>
                <a:latin typeface="Calibri"/>
              </a:rPr>
              <a:t>Material de capacitación al personal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7C031"/>
                </a:solidFill>
                <a:latin typeface="Calibri"/>
              </a:rPr>
              <a:t>Mi CompañIA  ·  FUNDES México con el apoyo de Google.org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743200"/>
            <a:ext cx="2468880" cy="1371600"/>
          </a:xfrm>
          <a:prstGeom prst="round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7C031"/>
                </a:solidFill>
              </a:rPr>
              <a:t>Mi
CompañIA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3.4.3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28467E"/>
                </a:solidFill>
                <a:latin typeface="Calibri"/>
              </a:rPr>
              <a:t>Datos de esta capacitación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Completa antes de impartirla. Define alcance, audiencia y tiempo para que el evaluador vea contexto.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8467E"/>
                </a:solidFill>
                <a:latin typeface="Calibri"/>
              </a:rPr>
              <a:t>Nombre de la MiPyME: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8467E"/>
                </a:solidFill>
                <a:latin typeface="Calibri"/>
              </a:rPr>
              <a:t>Personal capacitado (nombres + cargo):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5468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8467E"/>
                </a:solidFill>
                <a:latin typeface="Calibri"/>
              </a:rPr>
              <a:t>Fecha de la capacitación: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84048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11247120" cy="54864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8467E"/>
                </a:solidFill>
                <a:latin typeface="Calibri"/>
              </a:rPr>
              <a:t>Duración estimada: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8467E"/>
                </a:solidFill>
                <a:latin typeface="Calibri"/>
              </a:rPr>
              <a:t>Soluciones cubiertas en esta sesión: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21208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3.4.3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28467E"/>
                </a:solidFill>
                <a:latin typeface="Calibri"/>
              </a:rPr>
              <a:t>Criterio F21 · qué evalúa el verificador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Texto literal del F21 oficial. Tu material debe cubrir explícitamente cada punto.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41148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Contiene las instrucciones paso a paso para operar cada herramienta de IA implementada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Incluye ejemplos de uso aplicados al contexto específico de la MiPyME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Especifica los prompts o instrucciones recomendadas para cada herramienta de IA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Incluye las buenas prácticas de uso y las acciones a realizar ante errores frecuentes en la operación de la solución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Está adaptado al nivel de alfabetización digital del personal capacitado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Se presenta en formato digital, accesible y comprensible para el personal de la MiPyME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3.4.3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28467E"/>
                </a:solidFill>
                <a:latin typeface="Calibri"/>
              </a:rPr>
              <a:t>Ejemplo orientativo · caso La Espiga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Solo para mostrar el TIPO de contenido. NO copies esto a tu MiPyME.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41148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/>
            <a:r>
              <a:rPr sz="1600" i="1">
                <a:solidFill>
                  <a:srgbClr val="28467E"/>
                </a:solidFill>
              </a:rPr>
              <a:t>Material de La Espiga: presentación de 12 láminas + 3 prompts pre-cargados. Pensada para encargadas con uso intermedio de smartphone pero sin experiencia previa con asistentes de IA. Lenguaje sencillo, capturas grandes, lista de 'qué hacer si algo no funciona'.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3.4.3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Lámina 1 · Bienvenida y objetivos del material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¿Qué van a aprender? ¿Cuánto tiempo tomará? ¿Para qué les servirá en su día a día?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0" cy="3200400"/>
          </a:xfrm>
          <a:prstGeom prst="rect">
            <a:avLst/>
          </a:prstGeom>
          <a:solidFill>
            <a:srgbClr val="EAF4FF"/>
          </a:solidFill>
          <a:ln w="9525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00" i="1">
                <a:solidFill>
                  <a:srgbClr val="529ED7"/>
                </a:solidFill>
              </a:rPr>
              <a:t>📷  Inserta aquí la captura
[Sugerencia: marca con círculo rojo cada zona importante]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00400"/>
            <a:ext cx="4663440" cy="32004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100" b="1">
                <a:solidFill>
                  <a:srgbClr val="28467E"/>
                </a:solidFill>
              </a:rPr>
              <a:t>NOTAS PARA EL CAPACITADOR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4B5563"/>
                </a:solidFill>
              </a:rPr>
              <a:t>[ Escribe aquí qué decir mientras muestras la captura. Ejemplos reales de la MiPyME van mejor que descripciones genéricas.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3.4.3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Láminas 2-N · Instrucciones paso a paso por herramienta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Por cada herramienta: capturas numeradas con el flujo completo de uso. Si la herramienta tiene 5 botones importantes, dedica 1 lámina por botón. Visual antes que texto.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0" cy="3200400"/>
          </a:xfrm>
          <a:prstGeom prst="rect">
            <a:avLst/>
          </a:prstGeom>
          <a:solidFill>
            <a:srgbClr val="EAF4FF"/>
          </a:solidFill>
          <a:ln w="9525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00" i="1">
                <a:solidFill>
                  <a:srgbClr val="529ED7"/>
                </a:solidFill>
              </a:rPr>
              <a:t>📷  Inserta aquí la captura
[Sugerencia: marca con círculo rojo cada zona importante]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00400"/>
            <a:ext cx="4663440" cy="32004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100" b="1">
                <a:solidFill>
                  <a:srgbClr val="28467E"/>
                </a:solidFill>
              </a:rPr>
              <a:t>NOTAS PARA EL CAPACITADOR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4B5563"/>
                </a:solidFill>
              </a:rPr>
              <a:t>[ Escribe aquí qué decir mientras muestras la captura. Ejemplos reales de la MiPyME van mejor que descripciones genéricas.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3.4.3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Ejemplos aplicados al contexto de la MiPyME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Por cada herramienta: 2-3 ejemplos REALES de la MiPyME (no ejemplos genéricos). El personal debe poder decir 'ah, eso lo hago yo el lunes en la mañana'.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0" cy="3200400"/>
          </a:xfrm>
          <a:prstGeom prst="rect">
            <a:avLst/>
          </a:prstGeom>
          <a:solidFill>
            <a:srgbClr val="EAF4FF"/>
          </a:solidFill>
          <a:ln w="9525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00" i="1">
                <a:solidFill>
                  <a:srgbClr val="529ED7"/>
                </a:solidFill>
              </a:rPr>
              <a:t>📷  Inserta aquí la captura
[Sugerencia: marca con círculo rojo cada zona importante]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00400"/>
            <a:ext cx="4663440" cy="32004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100" b="1">
                <a:solidFill>
                  <a:srgbClr val="28467E"/>
                </a:solidFill>
              </a:rPr>
              <a:t>NOTAS PARA EL CAPACITADOR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4B5563"/>
                </a:solidFill>
              </a:rPr>
              <a:t>[ Escribe aquí qué decir mientras muestras la captura. Ejemplos reales de la MiPyME van mejor que descripciones genéricas.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3.4.3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Prompts recomendados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Lista de 5-10 prompts que ya funcionan para los casos típicos. El personal los copia/pega; no se les pide redactar prompts desde cero.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09728" cy="137160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200400"/>
            <a:ext cx="11155680" cy="137160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/>
            <a:r>
              <a:rPr sz="1000" b="1">
                <a:solidFill>
                  <a:srgbClr val="28467E"/>
                </a:solidFill>
              </a:rPr>
              <a:t>PROMPT SUGERIDO</a:t>
            </a:r>
          </a:p>
          <a:p>
            <a:pPr>
              <a:spcBef>
                <a:spcPts val="400"/>
              </a:spcBef>
            </a:pPr>
            <a:r>
              <a:rPr sz="1300" i="1">
                <a:solidFill>
                  <a:srgbClr val="28467E"/>
                </a:solidFill>
                <a:latin typeface="Courier New"/>
              </a:rPr>
              <a:t>[ Pega aquí un prompt completo: rol del asistente + contexto de la MiPyME + formato de salida esperado + ejemplo.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09728" cy="13716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754880"/>
            <a:ext cx="11155680" cy="13716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/>
            <a:r>
              <a:rPr sz="1000" b="1">
                <a:solidFill>
                  <a:srgbClr val="28467E"/>
                </a:solidFill>
              </a:rPr>
              <a:t>OTRO PROMPT</a:t>
            </a:r>
          </a:p>
          <a:p>
            <a:pPr>
              <a:spcBef>
                <a:spcPts val="400"/>
              </a:spcBef>
            </a:pPr>
            <a:r>
              <a:rPr sz="1300" i="1">
                <a:solidFill>
                  <a:srgbClr val="28467E"/>
                </a:solidFill>
                <a:latin typeface="Courier New"/>
              </a:rPr>
              <a:t>[ Pega aquí un prompt completo: rol del asistente + contexto de la MiPyME + formato de salida esperado + ejemplo.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3.4.3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Errores frecuentes y qué hacer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Tabla con: error común → cómo identificarlo → cómo resolverlo → cuándo escalar al consultor o a Carlos/Doña Beatriz.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2004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3383280"/>
                <a:gridCol w="320040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Error frecuente</a:t>
                      </a:r>
                    </a:p>
                  </a:txBody>
                  <a:tcPr>
                    <a:solidFill>
                      <a:srgbClr val="284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Cómo identificarlo</a:t>
                      </a:r>
                    </a:p>
                  </a:txBody>
                  <a:tcPr>
                    <a:solidFill>
                      <a:srgbClr val="284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Cómo resolverlo</a:t>
                      </a:r>
                    </a:p>
                  </a:txBody>
                  <a:tcPr>
                    <a:solidFill>
                      <a:srgbClr val="284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Cuándo escalar</a:t>
                      </a:r>
                    </a:p>
                  </a:txBody>
                  <a:tcPr>
                    <a:solidFill>
                      <a:srgbClr val="28467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3.4.3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Adaptación al nivel digital del personal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Si el personal no maneja tecnicismos, usa lenguaje cotidiano. Si están acostumbrados a apps, puedes ir más rápido.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0" cy="3200400"/>
          </a:xfrm>
          <a:prstGeom prst="rect">
            <a:avLst/>
          </a:prstGeom>
          <a:solidFill>
            <a:srgbClr val="EAF4FF"/>
          </a:solidFill>
          <a:ln w="9525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00" i="1">
                <a:solidFill>
                  <a:srgbClr val="529ED7"/>
                </a:solidFill>
              </a:rPr>
              <a:t>📷  Inserta aquí la captura
[Sugerencia: marca con círculo rojo cada zona importante]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00400"/>
            <a:ext cx="4663440" cy="32004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100" b="1">
                <a:solidFill>
                  <a:srgbClr val="28467E"/>
                </a:solidFill>
              </a:rPr>
              <a:t>NOTAS PARA EL CAPACITADOR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4B5563"/>
                </a:solidFill>
              </a:rPr>
              <a:t>[ Escribe aquí qué decir mientras muestras la captura. Ejemplos reales de la MiPyME van mejor que descripciones genéricas.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3.4.3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Lámina final · Recursos y soporte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¿A quién acudir si algo falla? ¿Dónde encontrar este material después? ¿Cuándo se actualiza?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0" cy="3200400"/>
          </a:xfrm>
          <a:prstGeom prst="rect">
            <a:avLst/>
          </a:prstGeom>
          <a:solidFill>
            <a:srgbClr val="EAF4FF"/>
          </a:solidFill>
          <a:ln w="9525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00" i="1">
                <a:solidFill>
                  <a:srgbClr val="529ED7"/>
                </a:solidFill>
              </a:rPr>
              <a:t>📷  Inserta aquí la captura
[Sugerencia: marca con círculo rojo cada zona importante]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00400"/>
            <a:ext cx="4663440" cy="32004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100" b="1">
                <a:solidFill>
                  <a:srgbClr val="28467E"/>
                </a:solidFill>
              </a:rPr>
              <a:t>NOTAS PARA EL CAPACITADOR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4B5563"/>
                </a:solidFill>
              </a:rPr>
              <a:t>[ Escribe aquí qué decir mientras muestras la captura. Ejemplos reales de la MiPyME van mejor que descripciones genéricas.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200" b="1" i="0">
                <a:solidFill>
                  <a:srgbClr val="F7C031"/>
                </a:solidFill>
                <a:latin typeface="Calibri"/>
              </a:rPr>
              <a:t>¿Dudas durante la operación?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Tu consultor sigue disponible. Datos de contacto en el Acta de cierre (producto 4.4.2).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EAF4FF"/>
                </a:solidFill>
                <a:latin typeface="Calibri"/>
              </a:rPr>
              <a:t>Este material puede actualizarse cuando se añadan nuevas FAQ o flujos.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28467E"/>
                </a:solidFill>
                <a:latin typeface="Calibri"/>
              </a:rPr>
              <a:t>Mi CompañIA  ·  FUNDES México con el apoyo de Google.org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